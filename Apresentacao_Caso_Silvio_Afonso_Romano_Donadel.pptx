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00000"/>
            <a:ext cx="4500000" cy="5600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140000"/>
            <a:ext cx="4500000" cy="6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000" y="900000"/>
            <a:ext cx="395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7A800"/>
                </a:solidFill>
                <a:latin typeface="Lato"/>
              </a:defRPr>
            </a:pPr>
            <a:r>
              <a:t>ROMANO DONADEL ADVOGADOS</a:t>
            </a:r>
          </a:p>
          <a:p>
            <a:pPr>
              <a:spcBef>
                <a:spcPts val="600"/>
              </a:spcBef>
              <a:spcAft>
                <a:spcPts val="2800"/>
              </a:spcAft>
              <a:defRPr sz="1600" b="1">
                <a:solidFill>
                  <a:srgbClr val="FFFFFF"/>
                </a:solidFill>
                <a:latin typeface="Lato"/>
              </a:defRPr>
            </a:pPr>
            <a:r>
              <a:t>Defesa Patrimonial &amp; Blindagem de Meação</a:t>
            </a:r>
          </a:p>
          <a:p>
            <a:pPr>
              <a:spcBef>
                <a:spcPts val="1200"/>
              </a:spcBef>
              <a:defRPr sz="2000" b="1">
                <a:solidFill>
                  <a:srgbClr val="F7A800"/>
                </a:solidFill>
                <a:latin typeface="Lato"/>
              </a:defRPr>
            </a:pPr>
            <a:r>
              <a:t>03 FRENTES</a:t>
            </a:r>
          </a:p>
          <a:p>
            <a:pPr>
              <a:defRPr sz="950">
                <a:solidFill>
                  <a:srgbClr val="CBD5E1"/>
                </a:solidFill>
                <a:latin typeface="Lato"/>
              </a:defRPr>
            </a:pPr>
            <a:r>
              <a:t>Ações Judiciais Coordenadas</a:t>
            </a:r>
          </a:p>
          <a:p>
            <a:pPr>
              <a:spcBef>
                <a:spcPts val="1200"/>
              </a:spcBef>
              <a:defRPr sz="2000" b="1">
                <a:solidFill>
                  <a:srgbClr val="F7A800"/>
                </a:solidFill>
                <a:latin typeface="Lato"/>
              </a:defRPr>
            </a:pPr>
            <a:r>
              <a:t>R$ 0 DE MULTA</a:t>
            </a:r>
          </a:p>
          <a:p>
            <a:pPr>
              <a:defRPr sz="950">
                <a:solidFill>
                  <a:srgbClr val="CBD5E1"/>
                </a:solidFill>
                <a:latin typeface="Lato"/>
              </a:defRPr>
            </a:pPr>
            <a:r>
              <a:t>Astreintes Revogadas no TJMG</a:t>
            </a:r>
          </a:p>
          <a:p>
            <a:pPr>
              <a:spcBef>
                <a:spcPts val="1200"/>
              </a:spcBef>
              <a:defRPr sz="2000" b="1">
                <a:solidFill>
                  <a:srgbClr val="F7A800"/>
                </a:solidFill>
                <a:latin typeface="Lato"/>
              </a:defRPr>
            </a:pPr>
            <a:r>
              <a:t>100% BLINDADO</a:t>
            </a:r>
          </a:p>
          <a:p>
            <a:pPr>
              <a:defRPr sz="950">
                <a:solidFill>
                  <a:srgbClr val="CBD5E1"/>
                </a:solidFill>
                <a:latin typeface="Lato"/>
              </a:defRPr>
            </a:pPr>
            <a:r>
              <a:t>Apartamento Sense Preservado</a:t>
            </a:r>
          </a:p>
        </p:txBody>
      </p:sp>
      <p:pic>
        <p:nvPicPr>
          <p:cNvPr id="5" name="Picture 4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000" y="700000"/>
            <a:ext cx="1400000" cy="533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0000" y="1800000"/>
            <a:ext cx="61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6A"/>
                </a:solidFill>
                <a:latin typeface="Lato"/>
              </a:defRPr>
            </a:pPr>
            <a:r>
              <a:t>RELATÓRIO EXECUTIVO RDAA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  <a:latin typeface="Lato"/>
              </a:defRPr>
            </a:pPr>
            <a:r>
              <a:t>CASO SÍLVIO LUIZ AFONSO</a:t>
            </a:r>
          </a:p>
          <a:p>
            <a:pPr>
              <a:spcBef>
                <a:spcPts val="600"/>
              </a:spcBef>
              <a:spcAft>
                <a:spcPts val="2800"/>
              </a:spcAft>
              <a:defRPr sz="1400">
                <a:solidFill>
                  <a:srgbClr val="63666A"/>
                </a:solidFill>
                <a:latin typeface="Lato"/>
              </a:defRPr>
            </a:pPr>
            <a:r>
              <a:t>Estratégia Processual Integrada, Responsabilidade Tributária do Imóvel Ocupado e Governança de Acervo</a:t>
            </a:r>
          </a:p>
          <a:p>
            <a:pPr>
              <a:defRPr sz="1100" b="1">
                <a:solidFill>
                  <a:srgbClr val="0F172A"/>
                </a:solidFill>
                <a:latin typeface="Lato"/>
              </a:defRPr>
            </a:pPr>
            <a:r>
              <a:t>👤 CLIENTE: Sílvio Luiz Afonso   |   ⚖ PARTE ADVERSA: Ana Lúcia de Oliveira Afonso</a:t>
            </a:r>
          </a:p>
          <a:p>
            <a:pPr>
              <a:spcBef>
                <a:spcPts val="400"/>
              </a:spcBef>
              <a:defRPr sz="1000">
                <a:solidFill>
                  <a:srgbClr val="63666A"/>
                </a:solidFill>
                <a:latin typeface="Lato"/>
              </a:defRPr>
            </a:pPr>
            <a:r>
              <a:t>PATROCÍNIO: Romano Donadel Advogados Associados   |   DATA: Setembro /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VISÃO GERAL &amp; GOVERNANÇA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ARQUITETURA ESTRATÉGICA DO CONTENCIOSO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02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3800000" cy="4900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1400000"/>
            <a:ext cx="34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GESTÃO COORDENADA</a:t>
            </a:r>
          </a:p>
          <a:p>
            <a:pPr>
              <a:defRPr sz="4400" b="1">
                <a:solidFill>
                  <a:srgbClr val="F7A800"/>
                </a:solidFill>
                <a:latin typeface="Lato"/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300" b="1">
                <a:solidFill>
                  <a:srgbClr val="FFFFFF"/>
                </a:solidFill>
                <a:latin typeface="Lato"/>
              </a:defRPr>
            </a:pPr>
            <a:r>
              <a:t>FRENTES PROCESSUAIS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Lato"/>
              </a:defRPr>
            </a:pPr>
            <a:r>
              <a:t>• 3ª Vara de Família: Divórcio &amp; Partilha de Haveres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Lato"/>
              </a:defRPr>
            </a:pPr>
            <a:r>
              <a:t>• TJMG (8ª Câmara): Agravo de IPTU Begônias</a:t>
            </a:r>
          </a:p>
          <a:p>
            <a:pPr>
              <a:spcAft>
                <a:spcPts val="600"/>
              </a:spcAft>
              <a:defRPr sz="1000">
                <a:solidFill>
                  <a:srgbClr val="F1F5F9"/>
                </a:solidFill>
                <a:latin typeface="Lato"/>
              </a:defRPr>
            </a:pPr>
            <a:r>
              <a:t>• 10ª Vara Cível: Arbitramento de Aluguel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0000" y="1200000"/>
            <a:ext cx="3450000" cy="235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0000" y="1360000"/>
            <a:ext cx="3090000" cy="2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ACERVOS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02 IMÓVEIS CENTRAIS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Rua das Begônias: Fruição exclusiva de Ana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Ed. Sense Vertical: Aquisição autônoma de Sílvio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0000" y="1200000"/>
            <a:ext cx="3450000" cy="2350000"/>
          </a:xfrm>
          <a:prstGeom prst="rect">
            <a:avLst/>
          </a:prstGeom>
          <a:solidFill>
            <a:srgbClr val="FFF8EB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0000" y="1360000"/>
            <a:ext cx="3090000" cy="2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DECISÃO TJMG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VITÓRIA RECURSAL AI /006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Astreintes de R$ 10k revogadas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IPTU Begônias: Obrigação integral mantida para 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0000" y="3750000"/>
            <a:ext cx="3450000" cy="235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0000" y="3910000"/>
            <a:ext cx="3090000" cy="2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10ª VARA CÍVEL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SANEADOR ART. 357, §1º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Fato Gerador: Dispensa de esbulho físico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Termo Inicial: Piso garantido na citação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0000" y="3750000"/>
            <a:ext cx="3450000" cy="235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0000" y="3910000"/>
            <a:ext cx="3090000" cy="20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ALIMENTOS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SEGREGAÇÃO ESTRITA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Bloqueio a qualquer compensação cruzada</a:t>
            </a:r>
          </a:p>
          <a:p>
            <a:pPr>
              <a:spcAft>
                <a:spcPts val="3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• Execução de 4,5 SM mantida em via autônoma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ESTRUTURA DE LITIGÂNCIA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MAPEAMENTO DINÂMICO DAS DEMANDAS CRUZADAS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03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60" y="138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VARA DE FAMÍLIA</a:t>
            </a:r>
          </a:p>
          <a:p>
            <a:pPr>
              <a:defRPr sz="1200" b="1">
                <a:solidFill>
                  <a:srgbClr val="0F172A"/>
                </a:solidFill>
                <a:latin typeface="Lato"/>
              </a:defRPr>
            </a:pPr>
            <a:r>
              <a:t>Divórcio e Partilha</a:t>
            </a:r>
          </a:p>
          <a:p>
            <a:pPr>
              <a:spcAft>
                <a:spcPts val="1200"/>
              </a:spcAft>
              <a:defRPr sz="850">
                <a:solidFill>
                  <a:srgbClr val="63666A"/>
                </a:solidFill>
                <a:latin typeface="Lato"/>
              </a:defRPr>
            </a:pPr>
            <a:r>
              <a:t>Proc. 5026681-10</a:t>
            </a:r>
          </a:p>
          <a:p>
            <a:pPr>
              <a:spcAft>
                <a:spcPts val="16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Partilha do patrimônio comum e apuração de haveres.</a:t>
            </a:r>
          </a:p>
          <a:p>
            <a:pPr>
              <a:defRPr sz="950" b="1">
                <a:solidFill>
                  <a:srgbClr val="0F172A"/>
                </a:solidFill>
                <a:latin typeface="Lato"/>
              </a:defRPr>
            </a:pPr>
            <a:r>
              <a:t>🎯 DIRETRIZ RDAA:</a:t>
            </a:r>
            <a:br/>
            <a:r>
              <a:t>Isolar bens particulares e exigir prestação de contas dos frutos.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4360" y="138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TJMG — 8ª CÂMARA</a:t>
            </a:r>
          </a:p>
          <a:p>
            <a:pPr>
              <a:defRPr sz="1200" b="1">
                <a:solidFill>
                  <a:srgbClr val="0F172A"/>
                </a:solidFill>
                <a:latin typeface="Lato"/>
              </a:defRPr>
            </a:pPr>
            <a:r>
              <a:t>AI IPTU Begônias (/006)</a:t>
            </a:r>
          </a:p>
          <a:p>
            <a:pPr>
              <a:spcAft>
                <a:spcPts val="1200"/>
              </a:spcAft>
              <a:defRPr sz="850">
                <a:solidFill>
                  <a:srgbClr val="63666A"/>
                </a:solidFill>
                <a:latin typeface="Lato"/>
              </a:defRPr>
            </a:pPr>
            <a:r>
              <a:t>Proc. 1.0000.23.223786-7</a:t>
            </a:r>
          </a:p>
          <a:p>
            <a:pPr>
              <a:spcAft>
                <a:spcPts val="16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Custeio do IPTU e baixa de protesto da casa residencial.</a:t>
            </a:r>
          </a:p>
          <a:p>
            <a:pPr>
              <a:defRPr sz="950" b="1">
                <a:solidFill>
                  <a:srgbClr val="0F172A"/>
                </a:solidFill>
                <a:latin typeface="Lato"/>
              </a:defRPr>
            </a:pPr>
            <a:r>
              <a:t>🎯 DIRETRIZ RDAA:</a:t>
            </a:r>
            <a:br/>
            <a:r>
              <a:t>Manter dever tributário exclusivo da coproprietária ocupante.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4360" y="138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10ª VARA CÍVEL</a:t>
            </a:r>
          </a:p>
          <a:p>
            <a:pPr>
              <a:defRPr sz="1200" b="1">
                <a:solidFill>
                  <a:srgbClr val="0F172A"/>
                </a:solidFill>
                <a:latin typeface="Lato"/>
              </a:defRPr>
            </a:pPr>
            <a:r>
              <a:t>Arbitramento de Aluguéis</a:t>
            </a:r>
          </a:p>
          <a:p>
            <a:pPr>
              <a:spcAft>
                <a:spcPts val="1200"/>
              </a:spcAft>
              <a:defRPr sz="850">
                <a:solidFill>
                  <a:srgbClr val="63666A"/>
                </a:solidFill>
                <a:latin typeface="Lato"/>
              </a:defRPr>
            </a:pPr>
            <a:r>
              <a:t>Proc. 5033450-63</a:t>
            </a:r>
          </a:p>
          <a:p>
            <a:pPr>
              <a:spcAft>
                <a:spcPts val="16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Indenização pela fruição exclusiva da residência.</a:t>
            </a:r>
          </a:p>
          <a:p>
            <a:pPr>
              <a:defRPr sz="950" b="1">
                <a:solidFill>
                  <a:srgbClr val="0F172A"/>
                </a:solidFill>
                <a:latin typeface="Lato"/>
              </a:defRPr>
            </a:pPr>
            <a:r>
              <a:t>🎯 DIRETRIZ RDAA:</a:t>
            </a:r>
            <a:br/>
            <a:r>
              <a:t>Fixar piso incontroverso na citação e dispensar esbulho físico.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4360" y="138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7A800"/>
                </a:solidFill>
                <a:latin typeface="Lato"/>
              </a:defRPr>
            </a:pPr>
            <a:r>
              <a:t>10ª VARA CÍVEL</a:t>
            </a:r>
          </a:p>
          <a:p>
            <a:pPr>
              <a:defRPr sz="1200" b="1">
                <a:solidFill>
                  <a:srgbClr val="0F172A"/>
                </a:solidFill>
                <a:latin typeface="Lato"/>
              </a:defRPr>
            </a:pPr>
            <a:r>
              <a:t>Reconvenção (Ed. Sense)</a:t>
            </a:r>
          </a:p>
          <a:p>
            <a:pPr>
              <a:spcAft>
                <a:spcPts val="1200"/>
              </a:spcAft>
              <a:defRPr sz="850">
                <a:solidFill>
                  <a:srgbClr val="63666A"/>
                </a:solidFill>
                <a:latin typeface="Lato"/>
              </a:defRPr>
            </a:pPr>
            <a:r>
              <a:t>Proc. 5033450-63</a:t>
            </a:r>
          </a:p>
          <a:p>
            <a:pPr>
              <a:spcAft>
                <a:spcPts val="1600"/>
              </a:spcAft>
              <a:defRPr sz="950">
                <a:solidFill>
                  <a:srgbClr val="0F172A"/>
                </a:solidFill>
                <a:latin typeface="Lato"/>
              </a:defRPr>
            </a:pPr>
            <a:r>
              <a:t>Pretensão de meação sobre o apartamento de Sílvio.</a:t>
            </a:r>
          </a:p>
          <a:p>
            <a:pPr>
              <a:defRPr sz="950" b="1">
                <a:solidFill>
                  <a:srgbClr val="0F172A"/>
                </a:solidFill>
                <a:latin typeface="Lato"/>
              </a:defRPr>
            </a:pPr>
            <a:r>
              <a:t>🎯 DIRETRIZ RDAA:</a:t>
            </a:r>
            <a:br/>
            <a:r>
              <a:t>Impor ônus primário integral à reconvinte (art. 373, I do CPC).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AI 1.0000.23.223786-7/006 — TJMG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TJMG MANTÉM IPTU COM OCUPANTE E REVOGA MULTA DE R$ 10K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04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2600000" cy="13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60" y="1300000"/>
            <a:ext cx="23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PASSO 1: Fruição Exclusiva</a:t>
            </a:r>
          </a:p>
          <a:p>
            <a:pPr>
              <a:defRPr sz="900">
                <a:solidFill>
                  <a:srgbClr val="0F172A"/>
                </a:solidFill>
                <a:latin typeface="Lato"/>
              </a:defRPr>
            </a:pPr>
            <a:r>
              <a:t>Ana reside no imóvel desde 13/03/2023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4360" y="1200000"/>
            <a:ext cx="2600000" cy="13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360" y="1300000"/>
            <a:ext cx="23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PASSO 2: Inadimplência</a:t>
            </a:r>
          </a:p>
          <a:p>
            <a:pPr>
              <a:defRPr sz="900">
                <a:solidFill>
                  <a:srgbClr val="0F172A"/>
                </a:solidFill>
                <a:latin typeface="Lato"/>
              </a:defRPr>
            </a:pPr>
            <a:r>
              <a:t>IPTU e taxas deixados em aberto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360" y="1200000"/>
            <a:ext cx="2600000" cy="13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4360" y="1300000"/>
            <a:ext cx="23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PASSO 3: Protesto Indevido</a:t>
            </a:r>
          </a:p>
          <a:p>
            <a:pPr>
              <a:defRPr sz="900">
                <a:solidFill>
                  <a:srgbClr val="0F172A"/>
                </a:solidFill>
                <a:latin typeface="Lato"/>
              </a:defRPr>
            </a:pPr>
            <a:r>
              <a:t>Fazenda protestou Sílvio em cartório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4360" y="1200000"/>
            <a:ext cx="2600000" cy="1300000"/>
          </a:xfrm>
          <a:prstGeom prst="rect">
            <a:avLst/>
          </a:prstGeom>
          <a:solidFill>
            <a:srgbClr val="ECFDF5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4360" y="1300000"/>
            <a:ext cx="236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Lato"/>
              </a:defRPr>
            </a:pPr>
            <a:r>
              <a:t>PASSO 4: Ordem TJMG</a:t>
            </a:r>
          </a:p>
          <a:p>
            <a:pPr>
              <a:defRPr sz="900">
                <a:solidFill>
                  <a:srgbClr val="0F172A"/>
                </a:solidFill>
                <a:latin typeface="Lato"/>
              </a:defRPr>
            </a:pPr>
            <a:r>
              <a:t>Ana deve solver dívida e baixar protesto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00000"/>
            <a:ext cx="5350000" cy="3300000"/>
          </a:xfrm>
          <a:prstGeom prst="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000" y="3020000"/>
            <a:ext cx="4850000" cy="2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91C1C"/>
                </a:solidFill>
                <a:latin typeface="Lato"/>
              </a:defRPr>
            </a:pPr>
            <a:r>
              <a:t>✗ TESE ADVERSÁRIA REJEITADA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• Alegação de 'violência patrimonial' e suposta dependência econômica.</a:t>
            </a:r>
            <a:br/>
            <a:r>
              <a:t>• Tentou compensar IPTU com pensão alimentícia em atraso.</a:t>
            </a:r>
            <a:br/>
            <a:r>
              <a:t>• Inconsistência: Sílvio é a vítima do protesto; alimentos têm rito autônomo.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4360" y="2800000"/>
            <a:ext cx="5350000" cy="3300000"/>
          </a:xfrm>
          <a:prstGeom prst="rect">
            <a:avLst/>
          </a:prstGeom>
          <a:solidFill>
            <a:srgbClr val="FFF8EB"/>
          </a:solidFill>
          <a:ln w="19050"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000" y="3020000"/>
            <a:ext cx="4850000" cy="2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7A800"/>
                </a:solidFill>
                <a:latin typeface="Lato"/>
              </a:defRPr>
            </a:pPr>
            <a:r>
              <a:t>✔ SOLUÇÃO RDAA ACOLHIDA NO TJMG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• Precedentes pacíficos: TJMG AC 0013168-49 e STJ AREsp 2.462.038.</a:t>
            </a:r>
            <a:br/>
            <a:r>
              <a:t>• O coproprietário ocupante responde pelas despesas de conservação e tributos.</a:t>
            </a:r>
            <a:br/>
            <a:r>
              <a:t>• Vitória: Mantido dever exclusivo de Ana e astreintes de R$ 10k revogadas.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AÇÃO ORDINÁRIA Nº 5033450-63.2025.8.13.0702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MATRIZ DE DECISÃO: AJUSTE DO SANEADOR (ART. 357, §1º)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05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5350000" cy="2350000"/>
          </a:xfrm>
          <a:prstGeom prst="rect">
            <a:avLst/>
          </a:prstGeom>
          <a:solidFill>
            <a:srgbClr val="FEF2F2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4360" y="1380000"/>
            <a:ext cx="495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91C1C"/>
                </a:solidFill>
                <a:latin typeface="Lato"/>
              </a:defRPr>
            </a:pPr>
            <a:r>
              <a:t>1. EXIGÊNCIA DO SANEADOR (VÍCIO)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Decisão exigiu prova de que Ana impedia fisicamente Sílvio de ingressar no imóvel. Requisito desnecessário e prejudicial.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4360" y="1200000"/>
            <a:ext cx="5350000" cy="2350000"/>
          </a:xfrm>
          <a:prstGeom prst="rect">
            <a:avLst/>
          </a:prstGeom>
          <a:solidFill>
            <a:srgbClr val="FFF8EB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4360" y="1380000"/>
            <a:ext cx="495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7A800"/>
                </a:solidFill>
                <a:latin typeface="Lato"/>
              </a:defRPr>
            </a:pPr>
            <a:r>
              <a:t>2. PADRÃO STJ (RESP 1.699.013/DF)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A impossibilidade prática de coabitação associada à oposição inequívoca basta para gerar a indenização locatícia.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50000"/>
            <a:ext cx="5350000" cy="2350000"/>
          </a:xfrm>
          <a:prstGeom prst="rect">
            <a:avLst/>
          </a:prstGeom>
          <a:solidFill>
            <a:srgbClr val="ECFDF5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360" y="3930000"/>
            <a:ext cx="495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47857"/>
                </a:solidFill>
                <a:latin typeface="Lato"/>
              </a:defRPr>
            </a:pPr>
            <a:r>
              <a:t>3. PISO MÍNIMO INCONTROVERSO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Data da citação válida como marco garantido e seguro de oposição, sem necessidade de instrução adicional.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4360" y="3750000"/>
            <a:ext cx="5350000" cy="235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4360" y="3930000"/>
            <a:ext cx="495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2E8F0"/>
                </a:solidFill>
                <a:latin typeface="Lato"/>
              </a:defRPr>
            </a:pPr>
            <a:r>
              <a:t>4. RETROATIVIDADE PRETENDIDA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Direito resguardado de demonstrar termo inicial desde 13/03/2023 através dos documentos da ação de divórcio.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DEFESA NA RECONVENÇÃO — 10ª VARA CÍVEL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BLINDAGEM DO APARTAMENTO SENSE VERTICAL LIVING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06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51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000" y="1450000"/>
            <a:ext cx="46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63666A"/>
                </a:solidFill>
                <a:latin typeface="Lato"/>
              </a:defRPr>
            </a:pPr>
            <a:r>
              <a:t>⚠ O ATAQUE RECONVENCIONAL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• Pretensão de Ana: Integrar o imóvel particular à partilha e arbitrar aluguel contra Sílvio.</a:t>
            </a:r>
            <a:br/>
            <a:br/>
            <a:r>
              <a:t>• Invocação do Art. 1.660 CC: Tentativa de presumir comunicabilidade sem demonstrar aporte fático.</a:t>
            </a:r>
            <a:br/>
            <a:br/>
            <a:r>
              <a:t>• Risco Processual: Inversão prematura do ônus da prova em detrimento do patrimônio autônomo.</a:t>
            </a:r>
          </a:p>
        </p:txBody>
      </p:sp>
      <p:sp>
        <p:nvSpPr>
          <p:cNvPr id="10" name="Oval 9"/>
          <p:cNvSpPr/>
          <p:nvPr/>
        </p:nvSpPr>
        <p:spPr>
          <a:xfrm>
            <a:off x="5800000" y="3350000"/>
            <a:ext cx="600000" cy="600000"/>
          </a:xfrm>
          <a:prstGeom prst="ellipse">
            <a:avLst/>
          </a:prstGeom>
          <a:solidFill>
            <a:srgbClr val="0F172A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00000" y="1200000"/>
            <a:ext cx="5100000" cy="4900000"/>
          </a:xfrm>
          <a:prstGeom prst="rect">
            <a:avLst/>
          </a:prstGeom>
          <a:solidFill>
            <a:srgbClr val="FFF8EB"/>
          </a:solidFill>
          <a:ln w="19050"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0000" y="1450000"/>
            <a:ext cx="46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7A800"/>
                </a:solidFill>
                <a:latin typeface="Lato"/>
              </a:defRPr>
            </a:pPr>
            <a:r>
              <a:t>🛡 BLINDAGEM TÉCNICA RDAA</a:t>
            </a:r>
          </a:p>
          <a:p>
            <a:pPr>
              <a:defRPr sz="1000">
                <a:solidFill>
                  <a:srgbClr val="0F172A"/>
                </a:solidFill>
                <a:latin typeface="Lato"/>
              </a:defRPr>
            </a:pPr>
            <a:r>
              <a:t>• Primazia do Art. 373, I: Incumbe com exclusividade à reconvinte comprovar aquisição na constância e com esforço comum.</a:t>
            </a:r>
            <a:br/>
            <a:br/>
            <a:r>
              <a:t>• Presunção Inoperante: O art. 1.660 CC não supre a inércia probatória primária de quem formula o pedido reconvencional.</a:t>
            </a:r>
            <a:br/>
            <a:br/>
            <a:r>
              <a:t>• Lastro Exclusivo de Reserva: Sílvio detém extratos bancários e contratos atestando aquisição autônoma fora da comunhão.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00000"/>
            <a:ext cx="60000" cy="450000"/>
          </a:xfrm>
          <a:prstGeom prst="rect">
            <a:avLst/>
          </a:prstGeom>
          <a:solidFill>
            <a:srgbClr val="F7A800"/>
          </a:solidFill>
          <a:ln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000" y="340000"/>
            <a:ext cx="950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7A800"/>
                </a:solidFill>
                <a:latin typeface="Lato"/>
              </a:defRPr>
            </a:pPr>
            <a:r>
              <a:t>CRONOGRAMA DE ATUAÇÃO</a:t>
            </a:r>
          </a:p>
          <a:p>
            <a:pPr>
              <a:defRPr sz="1700" b="1">
                <a:solidFill>
                  <a:srgbClr val="0F172A"/>
                </a:solidFill>
                <a:latin typeface="Lato"/>
              </a:defRPr>
            </a:pPr>
            <a:r>
              <a:t>ROADMAP DE PROVIDÊNCIAS IMEDIATAS</a:t>
            </a:r>
          </a:p>
        </p:txBody>
      </p:sp>
      <p:pic>
        <p:nvPicPr>
          <p:cNvPr id="4" name="Picture 3" descr="logo_romano_dona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00" y="320000"/>
            <a:ext cx="1150000" cy="4386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20000"/>
            <a:ext cx="11000000" cy="80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60000"/>
            <a:ext cx="55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3666A"/>
                </a:solidFill>
                <a:latin typeface="Lato"/>
              </a:defRPr>
            </a:pPr>
            <a:r>
              <a:t>CONFIDENCIAL | ROMANO DONADEL ADVOGADOS ASSOCIADOS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00" y="6460000"/>
            <a:ext cx="1100000" cy="25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F172A"/>
                </a:solidFill>
                <a:latin typeface="Lato"/>
              </a:defRPr>
            </a:pPr>
            <a:r>
              <a:t>SLIDE 07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200000"/>
            <a:ext cx="2600000" cy="4900000"/>
          </a:xfrm>
          <a:prstGeom prst="rect">
            <a:avLst/>
          </a:prstGeom>
          <a:solidFill>
            <a:srgbClr val="FFF8EB"/>
          </a:solidFill>
          <a:ln w="19050">
            <a:solidFill>
              <a:srgbClr val="F7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60" y="140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7A800"/>
                </a:solidFill>
                <a:latin typeface="Lato"/>
              </a:defRPr>
            </a:pPr>
            <a:r>
              <a:t>ETAPA 1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JULGAMENTO COLEGIADO TJMG</a:t>
            </a:r>
          </a:p>
          <a:p>
            <a:pPr>
              <a:defRPr sz="950">
                <a:solidFill>
                  <a:srgbClr val="63666A"/>
                </a:solidFill>
                <a:latin typeface="Lato"/>
              </a:defRPr>
            </a:pPr>
            <a:r>
              <a:t>Distribuir memoriais na 8ª Câmara Cível para confirmar a obrigação exclusiva do IPTU com a ocupante.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4360" y="140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Lato"/>
              </a:defRPr>
            </a:pPr>
            <a:r>
              <a:t>ETAPA 2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QUESITOS DE PERÍCIA LOCATÍCIA</a:t>
            </a:r>
          </a:p>
          <a:p>
            <a:pPr>
              <a:defRPr sz="950">
                <a:solidFill>
                  <a:srgbClr val="63666A"/>
                </a:solidFill>
                <a:latin typeface="Lato"/>
              </a:defRPr>
            </a:pPr>
            <a:r>
              <a:t>Apresentar quesitos técnicos na 10ª Cível para arbitrar o valor do aluguel da casa da Rua das Begônias.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4360" y="140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Lato"/>
              </a:defRPr>
            </a:pPr>
            <a:r>
              <a:t>ETAPA 3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BAIXA DO PROTESTO</a:t>
            </a:r>
          </a:p>
          <a:p>
            <a:pPr>
              <a:defRPr sz="950">
                <a:solidFill>
                  <a:srgbClr val="63666A"/>
                </a:solidFill>
                <a:latin typeface="Lato"/>
              </a:defRPr>
            </a:pPr>
            <a:r>
              <a:t>Notificar a Fazenda Municipal e o Cartório de Protestos para certificar o cumprimento da liminar por Ana.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4360" y="1200000"/>
            <a:ext cx="2600000" cy="49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4360" y="1400000"/>
            <a:ext cx="22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Lato"/>
              </a:defRPr>
            </a:pPr>
            <a:r>
              <a:t>ETAPA 4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Lato"/>
              </a:defRPr>
            </a:pPr>
            <a:r>
              <a:t>EXCLUSÃO DO EDIFÍCIO SENSE</a:t>
            </a:r>
          </a:p>
          <a:p>
            <a:pPr>
              <a:defRPr sz="950">
                <a:solidFill>
                  <a:srgbClr val="63666A"/>
                </a:solidFill>
                <a:latin typeface="Lato"/>
              </a:defRPr>
            </a:pPr>
            <a:r>
              <a:t>Consolidar a incomunicabilidade na partilha da 3ª Vara de Família mediante prova bancária documental.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