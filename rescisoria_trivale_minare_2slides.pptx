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80000"/>
            <a:ext cx="55000" cy="460000"/>
          </a:xfrm>
          <a:prstGeom prst="rect">
            <a:avLst/>
          </a:prstGeom>
          <a:solidFill>
            <a:srgbClr val="F7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0000" y="320000"/>
            <a:ext cx="960000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7A800"/>
                </a:solidFill>
                <a:latin typeface="Lato"/>
              </a:defRPr>
            </a:pPr>
            <a:r>
              <a:t>MECANISMO — AÇÃO RESCISÓRIA Nº 1.0000.26.447718-3/000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900" b="1">
                <a:solidFill>
                  <a:srgbClr val="000000"/>
                </a:solidFill>
                <a:latin typeface="Lato"/>
              </a:defRPr>
            </a:pPr>
            <a:r>
              <a:t>CADA REPASSE DEIXA UM RASTRO DOCUMENTAL COMPLETO</a:t>
            </a:r>
          </a:p>
        </p:txBody>
      </p:sp>
      <p:pic>
        <p:nvPicPr>
          <p:cNvPr id="4" name="Picture 3" descr="logo_romano_dona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0000" y="330000"/>
            <a:ext cx="1180000" cy="45004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" y="6440000"/>
            <a:ext cx="11000000" cy="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80000"/>
            <a:ext cx="600000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63666A"/>
                </a:solidFill>
                <a:latin typeface="Lato"/>
              </a:defRPr>
            </a:pPr>
            <a:r>
              <a:t>CONFIDENCIAL | ROMANO DONADEL ADVOGADOS ASSOCIADOS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00" y="6480000"/>
            <a:ext cx="110000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00000"/>
                </a:solidFill>
                <a:latin typeface="Lato"/>
              </a:defRPr>
            </a:pPr>
            <a:r>
              <a:t>SLIDE 01 /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150000"/>
            <a:ext cx="60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Lato"/>
              </a:defRPr>
            </a:pPr>
            <a:r>
              <a:t>1  FLUXO OPERACIONAL — O DINHEIRO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500000"/>
            <a:ext cx="2620000" cy="1350000"/>
          </a:xfrm>
          <a:prstGeom prst="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4360" y="1630000"/>
            <a:ext cx="2320000" cy="109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B45309"/>
                </a:solidFill>
                <a:latin typeface="Lato"/>
              </a:defRPr>
            </a:pPr>
            <a:r>
              <a:t>MINARE (LOJA)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250" b="1">
                <a:solidFill>
                  <a:srgbClr val="000000"/>
                </a:solidFill>
                <a:latin typeface="Lato"/>
              </a:defRPr>
            </a:pPr>
            <a:r>
              <a:t>VENDA NO CARTÃO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950" b="0">
                <a:solidFill>
                  <a:srgbClr val="63666A"/>
                </a:solidFill>
                <a:latin typeface="Lato"/>
              </a:defRPr>
            </a:pPr>
            <a:r>
              <a:t>Cliente final paga na Minare com o cartão da rede Valecard.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9360" y="2075000"/>
            <a:ext cx="12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7A800"/>
                </a:solidFill>
              </a:defRPr>
            </a:pPr>
            <a:r>
              <a:t>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4360" y="1500000"/>
            <a:ext cx="2620000" cy="1350000"/>
          </a:xfrm>
          <a:prstGeom prst="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4360" y="1630000"/>
            <a:ext cx="2320000" cy="109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B45309"/>
                </a:solidFill>
                <a:latin typeface="Lato"/>
              </a:defRPr>
            </a:pPr>
            <a:r>
              <a:t>TRIVALE (REDE)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250" b="1">
                <a:solidFill>
                  <a:srgbClr val="000000"/>
                </a:solidFill>
                <a:latin typeface="Lato"/>
              </a:defRPr>
            </a:pPr>
            <a:r>
              <a:t>APURAÇÃO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950" b="0">
                <a:solidFill>
                  <a:srgbClr val="63666A"/>
                </a:solidFill>
                <a:latin typeface="Lato"/>
              </a:defRPr>
            </a:pPr>
            <a:r>
              <a:t>Trivale registra a transação e desconta a taxa (MDR).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39360" y="2075000"/>
            <a:ext cx="12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7A800"/>
                </a:solidFill>
              </a:defRPr>
            </a:pPr>
            <a:r>
              <a:t>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4360" y="1500000"/>
            <a:ext cx="2620000" cy="1350000"/>
          </a:xfrm>
          <a:prstGeom prst="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84360" y="1630000"/>
            <a:ext cx="2320000" cy="109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B45309"/>
                </a:solidFill>
                <a:latin typeface="Lato"/>
              </a:defRPr>
            </a:pPr>
            <a:r>
              <a:t>TRIVALE → MINARE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250" b="1">
                <a:solidFill>
                  <a:srgbClr val="000000"/>
                </a:solidFill>
                <a:latin typeface="Lato"/>
              </a:defRPr>
            </a:pPr>
            <a:r>
              <a:t>REPASSE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950" b="0">
                <a:solidFill>
                  <a:srgbClr val="63666A"/>
                </a:solidFill>
                <a:latin typeface="Lato"/>
              </a:defRPr>
            </a:pPr>
            <a:r>
              <a:t>Valor líquido transferido por TED/DOC, individual ou agrupado.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59360" y="2075000"/>
            <a:ext cx="12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7A800"/>
                </a:solidFill>
              </a:defRPr>
            </a:pPr>
            <a:r>
              <a:t>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54360" y="1500000"/>
            <a:ext cx="2620000" cy="1350000"/>
          </a:xfrm>
          <a:prstGeom prst="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04360" y="1630000"/>
            <a:ext cx="2320000" cy="109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B45309"/>
                </a:solidFill>
                <a:latin typeface="Lato"/>
              </a:defRPr>
            </a:pPr>
            <a:r>
              <a:t>TRIVALE (DOCUMENTA)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250" b="1">
                <a:solidFill>
                  <a:srgbClr val="000000"/>
                </a:solidFill>
                <a:latin typeface="Lato"/>
              </a:defRPr>
            </a:pPr>
            <a:r>
              <a:t>REGISTRO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950" b="0">
                <a:solidFill>
                  <a:srgbClr val="63666A"/>
                </a:solidFill>
                <a:latin typeface="Lato"/>
              </a:defRPr>
            </a:pPr>
            <a:r>
              <a:t>Extrato de Conveniada lista quais títulos aquele repasse quitou.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050000"/>
            <a:ext cx="60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Lato"/>
              </a:defRPr>
            </a:pPr>
            <a:r>
              <a:t>2  CADEIA DOCUMENTAL — A PROVA, TÍTULO A TÍTULO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400000"/>
            <a:ext cx="2620000" cy="1250000"/>
          </a:xfrm>
          <a:prstGeom prst="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4360" y="3530000"/>
            <a:ext cx="2320000" cy="99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F7A800"/>
                </a:solidFill>
                <a:latin typeface="Lato"/>
              </a:defRPr>
            </a:pPr>
            <a:r>
              <a:t>ETAPA 1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Lato"/>
              </a:defRPr>
            </a:pPr>
            <a:r>
              <a:t>TÍTULO DE VENDA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950" b="0">
                <a:solidFill>
                  <a:srgbClr val="63666A"/>
                </a:solidFill>
                <a:latin typeface="Lato"/>
              </a:defRPr>
            </a:pPr>
            <a:r>
              <a:t>Prova que a obrigação existiu — o que o laudo listou como "em aberto".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19360" y="3925000"/>
            <a:ext cx="12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0000"/>
                </a:solidFill>
              </a:defRPr>
            </a:pPr>
            <a:r>
              <a:t>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14360" y="3400000"/>
            <a:ext cx="2620000" cy="1250000"/>
          </a:xfrm>
          <a:prstGeom prst="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64360" y="3530000"/>
            <a:ext cx="2320000" cy="99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F7A800"/>
                </a:solidFill>
                <a:latin typeface="Lato"/>
              </a:defRPr>
            </a:pPr>
            <a:r>
              <a:t>ETAPA 2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Lato"/>
              </a:defRPr>
            </a:pPr>
            <a:r>
              <a:t>EXTRATO DE CONVENIADA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950" b="0">
                <a:solidFill>
                  <a:srgbClr val="63666A"/>
                </a:solidFill>
                <a:latin typeface="Lato"/>
              </a:defRPr>
            </a:pPr>
            <a:r>
              <a:t>Prova que aquele título foi liquidado — valor bruto e líquido.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39360" y="3925000"/>
            <a:ext cx="12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0000"/>
                </a:solidFill>
              </a:defRPr>
            </a:pPr>
            <a:r>
              <a:t>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4360" y="3400000"/>
            <a:ext cx="2620000" cy="1250000"/>
          </a:xfrm>
          <a:prstGeom prst="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84360" y="3530000"/>
            <a:ext cx="2320000" cy="99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F7A800"/>
                </a:solidFill>
                <a:latin typeface="Lato"/>
              </a:defRPr>
            </a:pPr>
            <a:r>
              <a:t>ETAPA 3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Lato"/>
              </a:defRPr>
            </a:pPr>
            <a:r>
              <a:t>AGRUPAMENTO BANCÁRIO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950" b="0">
                <a:solidFill>
                  <a:srgbClr val="63666A"/>
                </a:solidFill>
                <a:latin typeface="Lato"/>
              </a:defRPr>
            </a:pPr>
            <a:r>
              <a:t>Quando aplicável: vários títulos pagos num único lote.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59360" y="3925000"/>
            <a:ext cx="12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0000"/>
                </a:solidFill>
              </a:defRPr>
            </a:pPr>
            <a:r>
              <a:t>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54360" y="3400000"/>
            <a:ext cx="2620000" cy="1250000"/>
          </a:xfrm>
          <a:prstGeom prst="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04360" y="3530000"/>
            <a:ext cx="2320000" cy="99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F7A800"/>
                </a:solidFill>
                <a:latin typeface="Lato"/>
              </a:defRPr>
            </a:pPr>
            <a:r>
              <a:t>ETAPA 4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Lato"/>
              </a:defRPr>
            </a:pPr>
            <a:r>
              <a:t>TED / DOC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950" b="0">
                <a:solidFill>
                  <a:srgbClr val="63666A"/>
                </a:solidFill>
                <a:latin typeface="Lato"/>
              </a:defRPr>
            </a:pPr>
            <a:r>
              <a:t>Prova bancária final: o valor efetivamente saiu e chegou.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5150000"/>
            <a:ext cx="55000" cy="620000"/>
          </a:xfrm>
          <a:prstGeom prst="rect">
            <a:avLst/>
          </a:prstGeom>
          <a:solidFill>
            <a:srgbClr val="F7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4360" y="5130000"/>
            <a:ext cx="10800000" cy="6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0000"/>
                </a:solidFill>
                <a:latin typeface="Lato"/>
              </a:defRPr>
            </a:pPr>
            <a:r>
              <a:t>A quitação só está provada quando as 4 etapas se conectam.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100" b="0">
                <a:solidFill>
                  <a:srgbClr val="63666A"/>
                </a:solidFill>
                <a:latin typeface="Lato"/>
              </a:defRPr>
            </a:pPr>
            <a:r>
              <a:t>Título, extrato, agrupamento (quando houver) e comprovante bancário — nenhuma etapa isolada basta.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80000"/>
            <a:ext cx="55000" cy="460000"/>
          </a:xfrm>
          <a:prstGeom prst="rect">
            <a:avLst/>
          </a:prstGeom>
          <a:solidFill>
            <a:srgbClr val="F7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0000" y="320000"/>
            <a:ext cx="960000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7A800"/>
                </a:solidFill>
                <a:latin typeface="Lato"/>
              </a:defRPr>
            </a:pPr>
            <a:r>
              <a:t>ERRO DE FATO — CPC, ART. 966, VIII E §1º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900" b="1">
                <a:solidFill>
                  <a:srgbClr val="000000"/>
                </a:solidFill>
                <a:latin typeface="Lato"/>
              </a:defRPr>
            </a:pPr>
            <a:r>
              <a:t>DENTRO DA DÍVIDA APONTADA, QUANTO JÁ FOI PAGO?</a:t>
            </a:r>
          </a:p>
        </p:txBody>
      </p:sp>
      <p:pic>
        <p:nvPicPr>
          <p:cNvPr id="4" name="Picture 3" descr="logo_romano_dona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0000" y="330000"/>
            <a:ext cx="1180000" cy="45004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" y="6440000"/>
            <a:ext cx="11000000" cy="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80000"/>
            <a:ext cx="600000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63666A"/>
                </a:solidFill>
                <a:latin typeface="Lato"/>
              </a:defRPr>
            </a:pPr>
            <a:r>
              <a:t>CONFIDENCIAL | ROMANO DONADEL ADVOGADOS ASSOCIADOS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00" y="6480000"/>
            <a:ext cx="110000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000000"/>
                </a:solidFill>
                <a:latin typeface="Lato"/>
              </a:defRPr>
            </a:pPr>
            <a:r>
              <a:t>SLIDE 02 /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150000"/>
            <a:ext cx="800000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63666A"/>
                </a:solidFill>
                <a:latin typeface="Lato"/>
              </a:defRPr>
            </a:pPr>
            <a:r>
              <a:t>Valor que a sentença tratou como devido:  </a:t>
            </a:r>
            <a:r>
              <a:rPr sz="2400" b="1">
                <a:solidFill>
                  <a:srgbClr val="000000"/>
                </a:solidFill>
                <a:latin typeface="Lato"/>
              </a:rPr>
              <a:t>R$ 150.730,93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650000"/>
            <a:ext cx="11000000" cy="700000"/>
          </a:xfrm>
          <a:prstGeom prst="rect">
            <a:avLst/>
          </a:prstGeom>
          <a:noFill/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650000"/>
            <a:ext cx="9372000" cy="7000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66360" y="1650000"/>
            <a:ext cx="275000" cy="70000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241360" y="1650000"/>
            <a:ext cx="1353000" cy="70000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360" y="1860000"/>
            <a:ext cx="9172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47857"/>
                </a:solidFill>
                <a:latin typeface="Lato"/>
              </a:defRPr>
            </a:pPr>
            <a:r>
              <a:t>✓ JÁ PAGO — R$ 128.370,50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91360" y="1860000"/>
            <a:ext cx="1253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91C1C"/>
                </a:solidFill>
                <a:latin typeface="Lato"/>
              </a:defRPr>
            </a:pPr>
            <a:r>
              <a:t>R$ 18.523,21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410000"/>
            <a:ext cx="110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949EB0"/>
                </a:solidFill>
                <a:latin typeface="Lato"/>
              </a:defRPr>
            </a:pPr>
            <a:r>
              <a:t>Faixa cinza (R$ 3.837,22): valor contado duas vezes no laudo — não é dívida nem pagamento, é erro de soma já descontado nos números ao lado.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900000"/>
            <a:ext cx="5350000" cy="15500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4360" y="3080000"/>
            <a:ext cx="4950000" cy="119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47857"/>
                </a:solidFill>
                <a:latin typeface="Lato"/>
              </a:defRPr>
            </a:pPr>
            <a:r>
              <a:t>DENTRO DO VALOR DEVIDO: JÁ PAGO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900" b="1">
                <a:solidFill>
                  <a:srgbClr val="000000"/>
                </a:solidFill>
                <a:latin typeface="Lato"/>
              </a:defRPr>
            </a:pPr>
            <a:r>
              <a:t>R$ 128.370,50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000" b="0">
                <a:solidFill>
                  <a:srgbClr val="63666A"/>
                </a:solidFill>
                <a:latin typeface="Lato"/>
              </a:defRPr>
            </a:pPr>
            <a:r>
              <a:t>85% do que a sentença tratou como dívida já tinha comprovante nos autos — título, extrato e TED/DOC — antes mesmo da sentença.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4360" y="2900000"/>
            <a:ext cx="5350000" cy="155000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4360" y="3080000"/>
            <a:ext cx="4950000" cy="119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91C1C"/>
                </a:solidFill>
                <a:latin typeface="Lato"/>
              </a:defRPr>
            </a:pPr>
            <a:r>
              <a:t>DENTRO DO VALOR DEVIDO: REALMENTE EM ABERTO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900" b="1">
                <a:solidFill>
                  <a:srgbClr val="000000"/>
                </a:solidFill>
                <a:latin typeface="Lato"/>
              </a:defRPr>
            </a:pPr>
            <a:r>
              <a:t>R$ 18.523,21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000" b="0">
                <a:solidFill>
                  <a:srgbClr val="63666A"/>
                </a:solidFill>
                <a:latin typeface="Lato"/>
              </a:defRPr>
            </a:pPr>
            <a:r>
              <a:t>Única fração que sobra como dívida real depois de descontar o que já foi pago. A Trivale não contesta esse valor.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4900000"/>
            <a:ext cx="55000" cy="620000"/>
          </a:xfrm>
          <a:prstGeom prst="rect">
            <a:avLst/>
          </a:prstGeom>
          <a:solidFill>
            <a:srgbClr val="F7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4360" y="4880000"/>
            <a:ext cx="10800000" cy="6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0000"/>
                </a:solidFill>
                <a:latin typeface="Lato"/>
              </a:defRPr>
            </a:pPr>
            <a:r>
              <a:t>85% do valor tratado como dívida já estava pago e documentado.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100" b="0">
                <a:solidFill>
                  <a:srgbClr val="63666A"/>
                </a:solidFill>
                <a:latin typeface="Lato"/>
              </a:defRPr>
            </a:pPr>
            <a:r>
              <a:t>A sentença nunca cruzou o título com o comprovante — isso é erro de fato (CPC, art. 966, VIII), não rediscussão de mérito.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